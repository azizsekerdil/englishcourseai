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cc927f795d4d45" /><Relationship Type="http://schemas.openxmlformats.org/officeDocument/2006/relationships/extended-properties" Target="/docProps/app.xml" Id="R3c6203a0da4a4c16" /><Relationship Type="http://schemas.openxmlformats.org/officeDocument/2006/relationships/officeDocument" Target="/ppt/presentation.xml" Id="R1e27145133fd46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97a788f1934050"/>
  </p:sldMasterIdLst>
  <p:notesMasterIdLst>
    <p:notesMasterId xmlns:r="http://schemas.openxmlformats.org/officeDocument/2006/relationships" r:id="Rb4a246b63bb3407f"/>
  </p:notesMasterIdLst>
  <p:sldIdLst>
    <p:sldId xmlns:r="http://schemas.openxmlformats.org/officeDocument/2006/relationships" id="256" r:id="R943c728fe72b4619"/>
    <p:sldId xmlns:r="http://schemas.openxmlformats.org/officeDocument/2006/relationships" id="257" r:id="Rede9425787244119"/>
    <p:sldId xmlns:r="http://schemas.openxmlformats.org/officeDocument/2006/relationships" id="258" r:id="Rf3914741f8e74da5"/>
    <p:sldId xmlns:r="http://schemas.openxmlformats.org/officeDocument/2006/relationships" id="259" r:id="R136728bc2cfe4182"/>
    <p:sldId xmlns:r="http://schemas.openxmlformats.org/officeDocument/2006/relationships" id="260" r:id="R7735dd6b11c74ab7"/>
    <p:sldId xmlns:r="http://schemas.openxmlformats.org/officeDocument/2006/relationships" id="261" r:id="R7d6d675d2f5d433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9dbf248bdd4ba2" /><Relationship Type="http://schemas.openxmlformats.org/officeDocument/2006/relationships/slideMaster" Target="/ppt/slideMasters/slideMaster1.xml" Id="Rbf97a788f1934050" /><Relationship Type="http://schemas.openxmlformats.org/officeDocument/2006/relationships/notesMaster" Target="/ppt/notesMasters/notesMaster1.xml" Id="Rb4a246b63bb3407f" /><Relationship Type="http://schemas.openxmlformats.org/officeDocument/2006/relationships/presProps" Target="/ppt/presProps.xml" Id="R4212f69672284498" /><Relationship Type="http://schemas.openxmlformats.org/officeDocument/2006/relationships/tableStyles" Target="/ppt/tableStyles.xml" Id="Rfcae541da6fc46b1" /><Relationship Type="http://schemas.openxmlformats.org/officeDocument/2006/relationships/slide" Target="/ppt/slides/slide1.xml" Id="R943c728fe72b4619" /><Relationship Type="http://schemas.openxmlformats.org/officeDocument/2006/relationships/slide" Target="/ppt/slides/slide2.xml" Id="Rede9425787244119" /><Relationship Type="http://schemas.openxmlformats.org/officeDocument/2006/relationships/slide" Target="/ppt/slides/slide3.xml" Id="Rf3914741f8e74da5" /><Relationship Type="http://schemas.openxmlformats.org/officeDocument/2006/relationships/slide" Target="/ppt/slides/slide4.xml" Id="R136728bc2cfe4182" /><Relationship Type="http://schemas.openxmlformats.org/officeDocument/2006/relationships/slide" Target="/ppt/slides/slide5.xml" Id="R7735dd6b11c74ab7" /><Relationship Type="http://schemas.openxmlformats.org/officeDocument/2006/relationships/slide" Target="/ppt/slides/slide6.xml" Id="R7d6d675d2f5d43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cf99b1407a43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94011f8e5b45d6" /><Relationship Type="http://schemas.openxmlformats.org/officeDocument/2006/relationships/notesMaster" Target="/ppt/notesMasters/notesMaster1.xml" Id="R14aee4b4606d4c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230d9bf4ec4f44" /><Relationship Type="http://schemas.openxmlformats.org/officeDocument/2006/relationships/notesMaster" Target="/ppt/notesMasters/notesMaster1.xml" Id="Rf734a7779e8149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d7de7cc22b4671" /><Relationship Type="http://schemas.openxmlformats.org/officeDocument/2006/relationships/notesMaster" Target="/ppt/notesMasters/notesMaster1.xml" Id="R6bc89a81d3a44a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2c8b6d95ab4378" /><Relationship Type="http://schemas.openxmlformats.org/officeDocument/2006/relationships/notesMaster" Target="/ppt/notesMasters/notesMaster1.xml" Id="R362094e809f447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633f5d889e401e" /><Relationship Type="http://schemas.openxmlformats.org/officeDocument/2006/relationships/notesMaster" Target="/ppt/notesMasters/notesMaster1.xml" Id="R24a032ef637141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57ee7636ea4917" /><Relationship Type="http://schemas.openxmlformats.org/officeDocument/2006/relationships/notesMaster" Target="/ppt/notesMasters/notesMaster1.xml" Id="R21303bac87f344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Course AI ürün özeti / product overview.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build: D:/GE_FR/EnglishCourseAI</a:t>
            </a:r>
          </a:p>
          <a:p xmlns:a="http://schemas.openxmlformats.org/drawingml/2006/main">
            <a:r>
              <a:t>- Generated icon: D:/GE_FR/EnglishCourseAI/assets/app-final.png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Öğrenme alanları tekrar, üretim ve izlemeyi tek akışta birleştirir.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D:/GE_FR/EnglishCourseAI/eca/app.py</a:t>
            </a:r>
          </a:p>
          <a:p xmlns:a="http://schemas.openxmlformats.org/drawingml/2006/main">
            <a:r>
              <a:t>- Local tests: D:/GE_FR/EnglishCourseAI/tests/test_ui.py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İngilizceye özgü veri ve doğrulama davranışını vurgulayın.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Vocabulary: D:/GE_FR/EnglishCourseAI/eca/seed_words.py</a:t>
            </a:r>
          </a:p>
          <a:p xmlns:a="http://schemas.openxmlformats.org/drawingml/2006/main">
            <a:r>
              <a:t>- Dictionary: D:/GE_FR/EnglishCourseAI/eca/dict_data.py (1,210+ EN-TR entries with definitions)</a:t>
            </a:r>
          </a:p>
          <a:p xmlns:a="http://schemas.openxmlformats.org/drawingml/2006/main">
            <a:r>
              <a:t>- Grammar/spelling/resources: D:/GE_FR/EnglishCourseAI/eca/content.py</a:t>
            </a:r>
          </a:p>
          <a:p xmlns:a="http://schemas.openxmlformats.org/drawingml/2006/main">
            <a:r>
              <a:t>- Automated tests: D:/GE_FR/EnglishCourseAI/tests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Gerçek paketlenmiş Windows uygulamasının ekran görüntüsü kullanılmıştır.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 captured from D:/GE_FR/EnglishCourseAI/dist/EnglishCourseAI.exe</a:t>
            </a:r>
          </a:p>
          <a:p xmlns:a="http://schemas.openxmlformats.org/drawingml/2006/main">
            <a:r>
              <a:t>- Image file: D:/GE_FR/EnglishCourseAI/docs/presentation/assets/english-course-ai-screenshot.jpg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Katalog bağlantı verir; üçüncü taraf materyali uygulamaya kopyalamaz.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https://learnenglish.britishcouncil.org/</a:t>
            </a:r>
          </a:p>
          <a:p xmlns:a="http://schemas.openxmlformats.org/drawingml/2006/main">
            <a:r>
              <a:t>- https://www.bbc.co.uk/learningenglish</a:t>
            </a:r>
          </a:p>
          <a:p xmlns:a="http://schemas.openxmlformats.org/drawingml/2006/main">
            <a:r>
              <a:t>- https://www.cambridgeenglish.org/learning-english/activities-for-learners/</a:t>
            </a:r>
          </a:p>
          <a:p xmlns:a="http://schemas.openxmlformats.org/drawingml/2006/main">
            <a:r>
              <a:t>- https://learningenglish.voanews.com/p/5373.html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Kapanış: ilk kullanım için uygulama, günlük tekrar ve isteğe bağlı yerel AI sırası.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release (private repo): https://github.com/Azizsekerdil/EnglishCourseAI/releases/tag/v1.2.1 (Windows zip + macOS zip)</a:t>
            </a:r>
          </a:p>
          <a:p xmlns:a="http://schemas.openxmlformats.org/drawingml/2006/main">
            <a:r>
              <a:t>- Setup and privacy details: D:/GE_FR/EnglishCourseAI/README.md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b15f98691446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27c35946424534" /><Relationship Type="http://schemas.openxmlformats.org/officeDocument/2006/relationships/slideLayout" Target="/ppt/slideLayouts/slideLayout1.xml" Id="R72c9815521bf434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c9815521bf434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38c8083194427e" /><Relationship Type="http://schemas.openxmlformats.org/officeDocument/2006/relationships/image" Target="/ppt/media/image.png" Id="R5ccd1820d2494fb5" /><Relationship Type="http://schemas.openxmlformats.org/officeDocument/2006/relationships/notesSlide" Target="/ppt/notesSlides/notesSlide1.xml" Id="R9933151734c847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285bde9c4440c2" /><Relationship Type="http://schemas.openxmlformats.org/officeDocument/2006/relationships/notesSlide" Target="/ppt/notesSlides/notesSlide2.xml" Id="Rbf0cc5854e144c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552dccf724c0c" /><Relationship Type="http://schemas.openxmlformats.org/officeDocument/2006/relationships/notesSlide" Target="/ppt/notesSlides/notesSlide3.xml" Id="R032d684a08884c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b08edc06c4e39" /><Relationship Type="http://schemas.openxmlformats.org/officeDocument/2006/relationships/image" Target="/ppt/media/image.jpeg" Id="R728f3513c5974f48" /><Relationship Type="http://schemas.openxmlformats.org/officeDocument/2006/relationships/notesSlide" Target="/ppt/notesSlides/notesSlide4.xml" Id="R825263100ac148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4d6d2512d4e8d" /><Relationship Type="http://schemas.openxmlformats.org/officeDocument/2006/relationships/notesSlide" Target="/ppt/notesSlides/notesSlide5.xml" Id="R5e302ed1c36f43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e99845a2c74867" /><Relationship Type="http://schemas.openxmlformats.org/officeDocument/2006/relationships/image" Target="/ppt/media/image2.png" Id="R2146c9e9e21240d2" /><Relationship Type="http://schemas.openxmlformats.org/officeDocument/2006/relationships/notesSlide" Target="/ppt/notesSlides/notesSlide6.xml" Id="R332a8bed36c44c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6D9E4F-6A6A-455B-A98A-65D4B726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cd1820d2494fb5"/>
          <a:stretch xmlns:a="http://schemas.openxmlformats.org/drawingml/2006/main"/>
        </p:blipFill>
        <p:spPr>
          <a:xfrm xmlns:a="http://schemas.openxmlformats.org/drawingml/2006/main">
            <a:off x="9525000" y="514350"/>
            <a:ext cx="1809750" cy="1809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33CD84-5755-4E9E-98ED-8F911180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YEREL • BILINGUAL • WINDOWS + MACOS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F7E67D-35C6-4637-A132-41DDEB6F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7524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English</a:t>
            </a:r>
          </a:p>
          <a:p xmlns:a="http://schemas.openxmlformats.org/drawingml/2006/main">
            <a:pPr algn="l">
              <a:defRPr sz="58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0611BA-376C-457F-8DE1-459B879D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43375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5361FD-26F5-4CBC-8821-262FDC90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771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İngilizce öğrenimi için kişisel masaüstü çalışma alanı</a:t>
            </a:r>
          </a:p>
          <a:p xmlns:a="http://schemas.openxmlformats.org/drawingml/2006/main">
            <a:pPr algn="l">
              <a:defRPr sz="19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 personal desktop workspace for learning English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69F18-6EC5-4E6A-BD56-6DED3091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00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v1.2.1  •  2026</a:t>
            </a:r>
          </a:p>
        </p:txBody>
      </p:sp>
    </p:spTree>
    <p:extLst>
      <p:ext uri="{BB962C8B-B14F-4D97-AF65-F5344CB8AC3E}">
        <p14:creationId xmlns:p14="http://schemas.microsoft.com/office/powerpoint/2010/main" val="20065065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386BE9-E847-453F-B048-2DF41C95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CB5858-6729-4832-858E-4D8C6309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2C9210-30E9-418A-8694-F1A2AEE4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18 çalışma alanı tek bir öğrenme döngüsü kuruyor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8C32EF-C62D-4349-8BDC-9045DF58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Eighteen areas form one learning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8AB2B7-BD3C-48DE-8C02-86CD1C0A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3DE75-64C1-4EE0-8E3B-88CB9AC5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79C984-734C-4C20-9FBA-D9E0867E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66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ÖĞREN / LEARN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4FB06A-9E9A-4F30-A4CD-D2D5DB2B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743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Aralıklı tekrar, kelime bankası, yön seçimli EN↔TR öğrenci sözlüğü ve CEFR sınavları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1804EE-65DB-41C9-B9AC-A11D1FAE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9550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DE9910-A885-4520-B02F-C94D2D45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6B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5027DB-B2EA-4B1B-BC3D-53982523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66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DUY &amp; YAZ / HEAR &amp; WRITE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86E57F-CB41-46C4-9CD7-DCBF55F6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43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Yazım-ses, telaffuz ve dilbilgisi laboratuvarları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897BC-6153-46B9-A1AC-83FA1B38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8145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AFCAAD-422B-4EF7-A6AE-6C0949EB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090EF4-EF45-4E39-BC84-4305F394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52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OKU / 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5BEA0F-4D64-46D6-9ADC-AF442CCD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29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Ücretsiz kaynak merkezi, PDF notları ve ders kitaplığı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014128-F1F8-4FCB-B941-1A49C75B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8145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8FB66F-AF91-44EE-8243-7F2ED15C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529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A3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556B7E-8558-4B5A-8225-A9230371D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UYGULA / PRACTISE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3AB116-B139-498D-8F94-D397BDA8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29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AI öğretmen, konuşma, yazma ve haftalık ilerleme</a:t>
            </a:r>
          </a:p>
        </p:txBody>
      </p:sp>
    </p:spTree>
    <p:extLst>
      <p:ext uri="{BB962C8B-B14F-4D97-AF65-F5344CB8AC3E}">
        <p14:creationId xmlns:p14="http://schemas.microsoft.com/office/powerpoint/2010/main" val="9108361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349338-ED39-42DF-99A6-24984206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E1AA51-9EE4-46B4-8EFD-ECAD06BA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C0BC09-4406-416F-A85A-D9F209ED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Bu yalnızca bir ad değişikliği değil; içerik İngilizce için yeniden kuruldu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75E832-06EF-4577-99F4-880AEACA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The content model was rebuilt for English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AECEEF-467A-476C-A40E-7B2A49CF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550FD7-106D-437B-86E7-FEA2818D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1.370+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AB1DEF-499D-4AD4-A14F-0C7485CC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vocabulary entries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E19C2-2AD1-4AC6-94DC-1BBF0230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162 A1 kelime + 1.210 EN-TR sözlük maddesi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0617F6-AB8E-4CD1-86A1-FCF1D4DE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8DF582-788A-401F-84AC-80D58854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F179E9-289D-46DB-83C3-05277A02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grammar topics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715E14-BA2D-4863-ADFD-11EE87EA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articles → tenses → phrasal verbs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724E58-509D-45BC-8C38-314FF5CA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AD96E4-4939-4C94-B4C7-CB47A3756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D42633-026C-46B5-BDBE-DFED8BA7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spelling units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CAB495-A13C-4CB4-912E-E42AA393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th, silent letters, -ed/-s, stress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5D146F-ED3B-4D96-9149-AB6EFE6A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895316-D729-4E15-9C83-5766F83A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55AD71-AE87-42CF-8685-95642BEF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verified resources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5CBE83-2384-4F8C-972E-55A1B4A1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free access, CC or public domain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3B8A1E-C5AB-472E-93A2-802544B7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19700"/>
            <a:ext cx="10934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A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BE608A-E70C-447E-8ACB-C965D62E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Apostrof ve kısa çizgi doğru yazımda korunur; büyük/küçük harf yanıtı engellemez.</a:t>
            </a:r>
          </a:p>
        </p:txBody>
      </p:sp>
    </p:spTree>
    <p:extLst>
      <p:ext uri="{BB962C8B-B14F-4D97-AF65-F5344CB8AC3E}">
        <p14:creationId xmlns:p14="http://schemas.microsoft.com/office/powerpoint/2010/main" val="2741684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D4C853-9345-4C90-A396-9DEC84D2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5E37EE-73F5-4E22-B79F-92BBCC59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CC60F-850B-494B-A81C-5E4572E1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Tek masaüstü, iki arayüz dili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E85564-2C62-4F0A-8941-7573006D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430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One desktop, two interface languages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5A6AD9-9915-44AB-ACB9-9B639E15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3667125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Türkçe ve English arasında anında geçiş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Yerel SQLite profilleri ve ilerleme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Koyu / açık tema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AI kapalıyken de çalışan temel dersler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3CB1AF-D796-4390-B9B0-84DB400A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43100"/>
            <a:ext cx="685800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9525">
            <a:solidFill>
              <a:srgbClr val="B8C0CC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8f3513c5974f48"/>
          <a:stretch xmlns:a="http://schemas.openxmlformats.org/drawingml/2006/main"/>
        </p:blipFill>
        <p:spPr>
          <a:xfrm xmlns:a="http://schemas.openxmlformats.org/drawingml/2006/main">
            <a:off x="5136717" y="2057400"/>
            <a:ext cx="5728566" cy="3752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957A3-45C2-41CC-91F7-06AAADA6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48300"/>
            <a:ext cx="3667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Gerçek EXE ekranı • Actual EXE capture</a:t>
            </a:r>
          </a:p>
        </p:txBody>
      </p:sp>
    </p:spTree>
    <p:extLst>
      <p:ext uri="{BB962C8B-B14F-4D97-AF65-F5344CB8AC3E}">
        <p14:creationId xmlns:p14="http://schemas.microsoft.com/office/powerpoint/2010/main" val="4254135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AA6F61-E0B7-42AB-8640-2AD1620A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A0F7FB-0F3E-44E0-AE4B-D529EAD7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92CFB7-3AE8-4718-9824-5869F2A3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Ücretsiz kaynaklar bir tık uzakta; içerik izinsiz kopyalanmıyor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AEA6DF-0B03-4856-A740-AF601053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19225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Free resources stay linked, attributed and licence-aware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09D0E9-2DBB-42A2-BF62-1052E391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578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2E6CC8-F537-4E45-B2DC-2C46BE0F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95500"/>
            <a:ext cx="54102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5583CA-5A1F-4C3A-8317-BE6A9534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RESMÎ ÜCRETSİZ ERİŞİM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91F339-BF8B-4E99-A54D-DC9EF006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OFFICIAL FREE 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E7DBBD-6C19-47DA-AA0C-377B10E9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4381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British Council LearnEnglish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BBC Learning English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Cambridge English activities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VOA Learning English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698B81-9B04-4A2D-A62C-DC7ADCB2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Haricî telif koşulları geçerlidir.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1081D-45BC-40D6-A241-BAA2620A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241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A35"/>
                </a:solidFill>
                <a:latin typeface="Arial"/>
                <a:ea typeface="Arial"/>
                <a:cs typeface="Arial"/>
              </a:rPr>
              <a:t>AÇIK / KAMU MALI KOLEKSİYONLAR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A9DA8B-460C-4B9F-AC21-D7EE94DA6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479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OPEN / PUBLIC-DOMAIN COLLECTIONS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73D831-5BE7-4454-B7C6-BAF2A5982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05150"/>
            <a:ext cx="4476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Wikibooks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Tatoeba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LibriVox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Project Gutenberg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57F0E3-E494-4E00-9739-0F08CD8A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Atıf ve yerel kamu malı durumu kontrol edilir.</a:t>
            </a:r>
          </a:p>
        </p:txBody>
      </p:sp>
    </p:spTree>
    <p:extLst>
      <p:ext uri="{BB962C8B-B14F-4D97-AF65-F5344CB8AC3E}">
        <p14:creationId xmlns:p14="http://schemas.microsoft.com/office/powerpoint/2010/main" val="12686498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C1A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C4B55A-8B89-4F16-BAEB-C637A1BD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HEMEN BAŞLA / START LOCALLY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B3EAB5-560B-498C-B309-5D980B37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962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Önce yerel çalış.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AI’ı yalnızca istediğinde ekle.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944540-B970-4F0B-996A-2EF18552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Study locally first. Add AI only when you want 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38FBC6-E2AF-4412-A66D-90497F2C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C0B4A0-0CF9-49D0-AE88-9B7C85D85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572A19-F94B-449D-809E-0B57D819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EXE'yi aç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73FDF0-9015-4C9D-9B91-3FAA7201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C1A35"/>
                </a:solidFill>
                <a:latin typeface="Arial"/>
                <a:ea typeface="Arial"/>
                <a:cs typeface="Arial"/>
              </a:rPr>
              <a:t>Open the Windows app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A2BF7-E1C5-4FF0-BEF3-693243E5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DD67C7-2C9C-4DF8-A1DE-8B3DB57C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358F1B-A2F1-452D-AA21-0042FE95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Günlük kuyruğu çalış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F16789-E44D-4A0C-9ED8-2300531E0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Review your daily queue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5DD2A4-EC78-48D0-8216-D512C38D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49209D-38C4-49FE-BE9C-50DFF2F5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7FE346-0E6C-4B33-9515-0E05C503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İstersen LM Studio bağla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8F6A79-A7CB-47F9-B883-89CAD136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Optionally connect LM Studio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2C315A-C07D-492B-824E-18891355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00700"/>
            <a:ext cx="942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github.com/Azizsekerdil/EnglishCourseAI/releases (v1.2.1, özel repo)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C9335A-B6EF-4299-89AF-71D57414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942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(v1.2.1)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D7ED3C-791A-4481-BBE2-9122A6F2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53150"/>
            <a:ext cx="942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macOS paketi notarize edilmemiştir; ilk açılışta sağ tık → Aç. / Not notarized; first launch: right-click → Open.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46c9e9e21240d2"/>
          <a:stretch xmlns:a="http://schemas.openxmlformats.org/drawingml/2006/main"/>
        </p:blipFill>
        <p:spPr>
          <a:xfrm xmlns:a="http://schemas.openxmlformats.org/drawingml/2006/main">
            <a:off x="10287000" y="5572125"/>
            <a:ext cx="1143000" cy="1143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3925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2026-09-07T05:07:35.8740000Z</dcterms:created>
  <dcterms:modified xsi:type="dcterms:W3CDTF">2026-09-07T05:07:35.8750000Z</dcterms:modified>
</coreProperties>
</file>